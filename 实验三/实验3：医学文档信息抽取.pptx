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8" r:id="rId4"/>
    <p:sldId id="259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uggingface.co/datasets/ncbi/Open-Patients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361237" y="2313785"/>
            <a:ext cx="8032830" cy="1871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8145" algn="ctr" rtl="0" eaLnBrk="0">
              <a:lnSpc>
                <a:spcPts val="5157"/>
              </a:lnSpc>
              <a:tabLst/>
            </a:pPr>
            <a:r>
              <a:rPr sz="39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Experiment</a:t>
            </a:r>
            <a:r>
              <a:rPr sz="3900" kern="0" spc="3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39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3900" dirty="0">
              <a:latin typeface="Microsoft YaHei"/>
              <a:ea typeface="Microsoft YaHei"/>
              <a:cs typeface="Microsoft YaHei"/>
            </a:endParaRPr>
          </a:p>
          <a:p>
            <a:pPr marL="12700" algn="ctr" rtl="0" eaLnBrk="0">
              <a:lnSpc>
                <a:spcPct val="90000"/>
              </a:lnSpc>
              <a:spcBef>
                <a:spcPts val="1706"/>
              </a:spcBef>
              <a:tabLst/>
            </a:pPr>
            <a:r>
              <a:rPr lang="zh-CN" altLang="en-US" sz="71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医学文档信息抽取</a:t>
            </a:r>
            <a:endParaRPr sz="7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 4"/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1876481" y="6506552"/>
            <a:ext cx="13462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4AB9-2D74-7560-0ACB-40F10A23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0567EECE-BF9B-E827-FFDA-FEF16E596C62}"/>
              </a:ext>
            </a:extLst>
          </p:cNvPr>
          <p:cNvSpPr/>
          <p:nvPr/>
        </p:nvSpPr>
        <p:spPr>
          <a:xfrm>
            <a:off x="813205" y="2179595"/>
            <a:ext cx="10634157" cy="403674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>
              <a:lnSpc>
                <a:spcPct val="150000"/>
              </a:lnSpc>
              <a:buNone/>
            </a:pPr>
            <a:r>
              <a:rPr lang="zh-CN" altLang="en-US" sz="2000" b="1" dirty="0"/>
              <a:t>实验目标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学习使用大模型或者</a:t>
            </a:r>
            <a:r>
              <a:rPr lang="en-US" altLang="zh-CN" sz="2000" dirty="0"/>
              <a:t>Bert</a:t>
            </a:r>
            <a:r>
              <a:rPr lang="zh-CN" altLang="en-US" sz="2000" dirty="0"/>
              <a:t>模型，利用数据挖掘技术从非结构化医学文档（</a:t>
            </a:r>
            <a:r>
              <a:rPr lang="en-US" altLang="zh-CN" sz="2000" dirty="0"/>
              <a:t>PDF</a:t>
            </a:r>
            <a:r>
              <a:rPr lang="zh-CN" altLang="en-US" sz="2000" dirty="0"/>
              <a:t>）中提取关键信息（基因、症状、药物、效果）。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掌握文本预处理、命名实体识别（</a:t>
            </a:r>
            <a:r>
              <a:rPr lang="en-US" altLang="zh-CN" sz="2000" dirty="0"/>
              <a:t>NER</a:t>
            </a:r>
            <a:r>
              <a:rPr lang="zh-CN" altLang="en-US" sz="2000" dirty="0"/>
              <a:t>）和关系抽取的基础方法。</a:t>
            </a:r>
            <a:endParaRPr lang="en-US" altLang="zh-CN" sz="20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利用</a:t>
            </a:r>
            <a:r>
              <a:rPr lang="en-US" altLang="zh-CN" sz="2000" dirty="0"/>
              <a:t>Neo4j</a:t>
            </a:r>
            <a:r>
              <a:rPr lang="zh-CN" altLang="en-US" sz="2000" dirty="0"/>
              <a:t>进行可视化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培养数据清洗、可视化及结果分析能力。</a:t>
            </a:r>
            <a:endParaRPr lang="en-US" altLang="zh-CN" sz="2000" dirty="0"/>
          </a:p>
        </p:txBody>
      </p:sp>
      <p:sp>
        <p:nvSpPr>
          <p:cNvPr id="28" name="rect 28">
            <a:extLst>
              <a:ext uri="{FF2B5EF4-FFF2-40B4-BE49-F238E27FC236}">
                <a16:creationId xmlns:a16="http://schemas.microsoft.com/office/drawing/2014/main" id="{7ED4677E-8D41-C2E2-FC64-691ED6F34E49}"/>
              </a:ext>
            </a:extLst>
          </p:cNvPr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3DA6F7B-430B-B9F2-2223-5672A581F24B}"/>
              </a:ext>
            </a:extLst>
          </p:cNvPr>
          <p:cNvSpPr/>
          <p:nvPr/>
        </p:nvSpPr>
        <p:spPr>
          <a:xfrm>
            <a:off x="813206" y="1399361"/>
            <a:ext cx="873696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ts val="3098"/>
              </a:lnSpc>
            </a:pP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实验设计：从医学文档中提取基因、药物及其效果</a:t>
            </a:r>
          </a:p>
          <a:p>
            <a:pPr marL="12700" algn="l" rtl="0" eaLnBrk="0">
              <a:lnSpc>
                <a:spcPts val="3098"/>
              </a:lnSpc>
              <a:tabLst/>
            </a:pPr>
            <a:endParaRPr sz="2300" b="1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4CBA417-344E-F8E8-E35B-D85E8941B089}"/>
              </a:ext>
            </a:extLst>
          </p:cNvPr>
          <p:cNvSpPr/>
          <p:nvPr/>
        </p:nvSpPr>
        <p:spPr>
          <a:xfrm>
            <a:off x="818379" y="393008"/>
            <a:ext cx="9020102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91000"/>
              </a:lnSpc>
            </a:pPr>
            <a:r>
              <a:rPr lang="zh-CN" altLang="en-US" sz="3200" b="1" dirty="0"/>
              <a:t>实验目标</a:t>
            </a:r>
          </a:p>
        </p:txBody>
      </p:sp>
      <p:pic>
        <p:nvPicPr>
          <p:cNvPr id="34" name="picture 34">
            <a:extLst>
              <a:ext uri="{FF2B5EF4-FFF2-40B4-BE49-F238E27FC236}">
                <a16:creationId xmlns:a16="http://schemas.microsoft.com/office/drawing/2014/main" id="{C6150CEA-6AA1-F92E-AE43-D65EDC8C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36" name="picture 36">
            <a:extLst>
              <a:ext uri="{FF2B5EF4-FFF2-40B4-BE49-F238E27FC236}">
                <a16:creationId xmlns:a16="http://schemas.microsoft.com/office/drawing/2014/main" id="{1D8942A4-9AB8-5688-E908-C96AFDDDF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38" name="picture 38">
            <a:extLst>
              <a:ext uri="{FF2B5EF4-FFF2-40B4-BE49-F238E27FC236}">
                <a16:creationId xmlns:a16="http://schemas.microsoft.com/office/drawing/2014/main" id="{F7F32C0D-ABFE-32C5-2B57-5CDE3C40E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40" name="textbox 40">
            <a:extLst>
              <a:ext uri="{FF2B5EF4-FFF2-40B4-BE49-F238E27FC236}">
                <a16:creationId xmlns:a16="http://schemas.microsoft.com/office/drawing/2014/main" id="{919D2E0D-105A-B70F-13B6-86A8788A5697}"/>
              </a:ext>
            </a:extLst>
          </p:cNvPr>
          <p:cNvSpPr/>
          <p:nvPr/>
        </p:nvSpPr>
        <p:spPr>
          <a:xfrm>
            <a:off x="11873966" y="6506552"/>
            <a:ext cx="1371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0170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 28"/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818379" y="393008"/>
            <a:ext cx="1641475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lang="en-US" sz="3200" b="1" kern="0" spc="-3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数据来源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11873966" y="6506552"/>
            <a:ext cx="1371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85E492-2D55-9765-8B67-D5B241E69FE7}"/>
              </a:ext>
            </a:extLst>
          </p:cNvPr>
          <p:cNvSpPr txBox="1"/>
          <p:nvPr/>
        </p:nvSpPr>
        <p:spPr>
          <a:xfrm>
            <a:off x="818379" y="1397922"/>
            <a:ext cx="5937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dirty="0"/>
          </a:p>
          <a:p>
            <a:r>
              <a:rPr kumimoji="1" lang="en-US" altLang="zh-CN" b="1" dirty="0"/>
              <a:t>PubMed</a:t>
            </a:r>
            <a:r>
              <a:rPr kumimoji="1" lang="zh-CN" altLang="en-US" b="1" dirty="0"/>
              <a:t> 开放数据集</a:t>
            </a:r>
            <a:endParaRPr kumimoji="1" lang="en-US" altLang="zh-CN" b="1" dirty="0"/>
          </a:p>
          <a:p>
            <a:endParaRPr kumimoji="1" lang="en-US" altLang="zh-CN" dirty="0"/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ftp.ncbi.nlm.nih.gov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pubmed</a:t>
            </a:r>
            <a:r>
              <a:rPr kumimoji="1" lang="en-US" altLang="zh-CN" dirty="0"/>
              <a:t>/baseline/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1FC83A-5673-EA7F-EC45-5FC5F34115AC}"/>
              </a:ext>
            </a:extLst>
          </p:cNvPr>
          <p:cNvSpPr txBox="1"/>
          <p:nvPr/>
        </p:nvSpPr>
        <p:spPr>
          <a:xfrm>
            <a:off x="818379" y="2947294"/>
            <a:ext cx="6331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下载后可以提取 </a:t>
            </a:r>
            <a:r>
              <a:rPr kumimoji="1" lang="en-US" altLang="zh-CN" dirty="0"/>
              <a:t>title</a:t>
            </a:r>
            <a:r>
              <a:rPr kumimoji="1" lang="zh-CN" altLang="en-US" dirty="0"/>
              <a:t> 以及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内容进行二次处理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可以调用</a:t>
            </a:r>
            <a:r>
              <a:rPr kumimoji="1" lang="en-US" altLang="zh-CN" dirty="0" err="1">
                <a:solidFill>
                  <a:srgbClr val="FF0000"/>
                </a:solidFill>
              </a:rPr>
              <a:t>qwen</a:t>
            </a:r>
            <a:r>
              <a:rPr kumimoji="1" lang="zh-CN" altLang="en-US" dirty="0">
                <a:solidFill>
                  <a:srgbClr val="FF0000"/>
                </a:solidFill>
              </a:rPr>
              <a:t>或开源翻译模型翻译成中文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4EB22F-81A9-9A48-E57D-3E2CC184571A}"/>
              </a:ext>
            </a:extLst>
          </p:cNvPr>
          <p:cNvSpPr txBox="1"/>
          <p:nvPr/>
        </p:nvSpPr>
        <p:spPr>
          <a:xfrm>
            <a:off x="818379" y="3665669"/>
            <a:ext cx="59378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dirty="0"/>
          </a:p>
          <a:p>
            <a:r>
              <a:rPr kumimoji="1" lang="en-US" altLang="zh-CN" b="1" dirty="0"/>
              <a:t>Open-patient</a:t>
            </a:r>
            <a:r>
              <a:rPr kumimoji="1" lang="zh-CN" altLang="en-US" b="1" dirty="0"/>
              <a:t> 数据集</a:t>
            </a:r>
            <a:endParaRPr kumimoji="1" lang="en-US" altLang="zh-CN" b="1" dirty="0"/>
          </a:p>
          <a:p>
            <a:endParaRPr kumimoji="1" lang="en-US" altLang="zh-CN" dirty="0"/>
          </a:p>
          <a:p>
            <a:r>
              <a:rPr kumimoji="1" lang="en-US" altLang="zh-CN" dirty="0">
                <a:hlinkClick r:id="rId5"/>
              </a:rPr>
              <a:t>https://huggingface.co/datasets/ncbi/Open-Patients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可以调用</a:t>
            </a:r>
            <a:r>
              <a:rPr kumimoji="1" lang="en-US" altLang="zh-CN" dirty="0" err="1">
                <a:solidFill>
                  <a:srgbClr val="FF0000"/>
                </a:solidFill>
              </a:rPr>
              <a:t>qwen</a:t>
            </a:r>
            <a:r>
              <a:rPr kumimoji="1" lang="zh-CN" altLang="en-US" dirty="0">
                <a:solidFill>
                  <a:srgbClr val="FF0000"/>
                </a:solidFill>
              </a:rPr>
              <a:t>成中文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/>
        </p:nvSpPr>
        <p:spPr>
          <a:xfrm>
            <a:off x="813206" y="1399361"/>
            <a:ext cx="9305484" cy="1851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b="1" kern="0" spc="8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 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</a:t>
            </a:r>
            <a:r>
              <a:rPr lang="en-US" altLang="zh-CN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Neo4j</a:t>
            </a:r>
            <a:r>
              <a:rPr lang="zh-CN" altLang="en-US"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实现知识图谱可视化</a:t>
            </a:r>
            <a:endParaRPr sz="2300" b="1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0059" algn="l" rtl="0" eaLnBrk="0">
              <a:lnSpc>
                <a:spcPct val="94000"/>
              </a:lnSpc>
              <a:spcBef>
                <a:spcPts val="693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2300" kern="0" spc="50" dirty="0" err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了解什么是</a:t>
            </a:r>
            <a:r>
              <a:rPr lang="zh-CN" altLang="en-US"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图数据库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8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0059" algn="l" rtl="0" eaLnBrk="0">
              <a:lnSpc>
                <a:spcPts val="3098"/>
              </a:lnSpc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了解</a:t>
            </a:r>
            <a:r>
              <a:rPr lang="en-US" altLang="zh-CN"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Neo4j</a:t>
            </a:r>
            <a:r>
              <a:rPr lang="zh-CN" altLang="en-US"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的使用及查询方法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rect 44"/>
          <p:cNvSpPr/>
          <p:nvPr/>
        </p:nvSpPr>
        <p:spPr>
          <a:xfrm>
            <a:off x="0" y="6347459"/>
            <a:ext cx="12192000" cy="510540"/>
          </a:xfrm>
          <a:prstGeom prst="rect">
            <a:avLst/>
          </a:prstGeom>
          <a:solidFill>
            <a:srgbClr val="00447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818379" y="393008"/>
            <a:ext cx="1641475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实验要求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312652" y="131064"/>
            <a:ext cx="742188" cy="861059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762" y="1019175"/>
            <a:ext cx="9401175" cy="1905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428244"/>
            <a:ext cx="237680" cy="457580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11875337" y="6506552"/>
            <a:ext cx="136525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i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的图片">
            <a:extLst>
              <a:ext uri="{FF2B5EF4-FFF2-40B4-BE49-F238E27FC236}">
                <a16:creationId xmlns:a16="http://schemas.microsoft.com/office/drawing/2014/main" id="{160BCFD0-03BF-164A-D919-B18B8E2D60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46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179</Words>
  <Application>Microsoft Macintosh PowerPoint</Application>
  <PresentationFormat>宽屏</PresentationFormat>
  <Paragraphs>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Microsoft YaHei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昊 王</cp:lastModifiedBy>
  <cp:revision>14</cp:revision>
  <dcterms:created xsi:type="dcterms:W3CDTF">2022-03-10T15:10:28Z</dcterms:created>
  <dcterms:modified xsi:type="dcterms:W3CDTF">2025-12-17T12:18:02Z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2025-03-18T23:18:36Z</vt:filetime>
  </property>
</Properties>
</file>