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4" r:id="rId4"/>
    <p:sldId id="267" r:id="rId5"/>
    <p:sldId id="263" r:id="rId6"/>
    <p:sldId id="265" r:id="rId7"/>
    <p:sldId id="259" r:id="rId8"/>
    <p:sldId id="26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4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kaggle.com/datasets/kritanjalijain/amazon-reviews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2049864" y="2695750"/>
            <a:ext cx="8098971" cy="1871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8145" algn="ctr" rtl="0" eaLnBrk="0">
              <a:lnSpc>
                <a:spcPts val="5157"/>
              </a:lnSpc>
              <a:tabLst/>
            </a:pPr>
            <a:r>
              <a:rPr sz="39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Experiment</a:t>
            </a:r>
            <a:r>
              <a:rPr sz="3900" kern="0" spc="3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39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3900" dirty="0">
              <a:latin typeface="Microsoft YaHei"/>
              <a:ea typeface="Microsoft YaHei"/>
              <a:cs typeface="Microsoft YaHei"/>
            </a:endParaRPr>
          </a:p>
          <a:p>
            <a:pPr marL="12700" algn="ctr" rtl="0" eaLnBrk="0">
              <a:lnSpc>
                <a:spcPct val="90000"/>
              </a:lnSpc>
              <a:spcBef>
                <a:spcPts val="1706"/>
              </a:spcBef>
              <a:tabLst/>
            </a:pPr>
            <a:r>
              <a:rPr lang="en-US" sz="7100" kern="0" spc="-20" dirty="0" err="1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基于预训练模型的情感分类</a:t>
            </a:r>
            <a:endParaRPr sz="7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ct 4"/>
          <p:cNvSpPr/>
          <p:nvPr/>
        </p:nvSpPr>
        <p:spPr>
          <a:xfrm>
            <a:off x="0" y="6347459"/>
            <a:ext cx="12192000" cy="510540"/>
          </a:xfrm>
          <a:prstGeom prst="rect">
            <a:avLst/>
          </a:prstGeom>
          <a:solidFill>
            <a:srgbClr val="00447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312652" y="131064"/>
            <a:ext cx="742188" cy="861059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1876481" y="6506552"/>
            <a:ext cx="134620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700" b="1" i="1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/>
          <p:nvPr/>
        </p:nvSpPr>
        <p:spPr>
          <a:xfrm>
            <a:off x="639762" y="2386013"/>
            <a:ext cx="10761784" cy="1516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indent="-342900" eaLnBrk="0">
              <a:lnSpc>
                <a:spcPts val="3098"/>
              </a:lnSpc>
              <a:buFont typeface="Arial" panose="020B0604020202020204" pitchFamily="34" charset="0"/>
              <a:buChar char="•"/>
            </a:pPr>
            <a:r>
              <a:rPr lang="en" altLang="zh-CN" sz="2300" dirty="0">
                <a:latin typeface="Microsoft YaHei"/>
                <a:ea typeface="Microsoft YaHei"/>
                <a:cs typeface="Microsoft YaHei"/>
                <a:hlinkClick r:id="rId2"/>
              </a:rPr>
              <a:t>https://www.kaggle.com/datasets/kritanjalijain/amazon-reviews</a:t>
            </a:r>
            <a:endParaRPr lang="zh-CN" altLang="en-US" sz="2300" dirty="0">
              <a:latin typeface="Microsoft YaHei"/>
              <a:ea typeface="Microsoft YaHei"/>
              <a:cs typeface="Microsoft YaHei"/>
            </a:endParaRPr>
          </a:p>
          <a:p>
            <a:pPr marL="171450" indent="-171450" algn="l" rtl="0" eaLnBrk="0">
              <a:lnSpc>
                <a:spcPct val="101000"/>
              </a:lnSpc>
              <a:buFont typeface="Arial" panose="020B0604020202020204" pitchFamily="34" charset="0"/>
              <a:buChar char="•"/>
              <a:tabLst/>
            </a:pPr>
            <a:endParaRPr lang="zh-CN" altLang="en-US" sz="1000" dirty="0">
              <a:latin typeface="Arial"/>
              <a:ea typeface="Arial"/>
              <a:cs typeface="Arial"/>
            </a:endParaRPr>
          </a:p>
          <a:p>
            <a:pPr marL="171450" indent="-171450" algn="l" rtl="0" eaLnBrk="0">
              <a:lnSpc>
                <a:spcPct val="8094"/>
              </a:lnSpc>
              <a:buFont typeface="Arial" panose="020B0604020202020204" pitchFamily="34" charset="0"/>
              <a:buChar char="•"/>
              <a:tabLst/>
            </a:pPr>
            <a:endParaRPr lang="zh-CN" altLang="en-US"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98"/>
              </a:lnSpc>
              <a:tabLst/>
            </a:pPr>
            <a:endParaRPr lang="en-US" altLang="zh-CN" sz="2300" kern="0" spc="90" dirty="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rect 28"/>
          <p:cNvSpPr/>
          <p:nvPr/>
        </p:nvSpPr>
        <p:spPr>
          <a:xfrm>
            <a:off x="0" y="6347459"/>
            <a:ext cx="12192000" cy="510540"/>
          </a:xfrm>
          <a:prstGeom prst="rect">
            <a:avLst/>
          </a:prstGeom>
          <a:solidFill>
            <a:srgbClr val="00447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" name="textbox 32"/>
          <p:cNvSpPr/>
          <p:nvPr/>
        </p:nvSpPr>
        <p:spPr>
          <a:xfrm>
            <a:off x="818379" y="393008"/>
            <a:ext cx="1641475" cy="467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lang="en-US" sz="3200" b="1" kern="0" spc="-30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数据来源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12652" y="131064"/>
            <a:ext cx="742188" cy="861059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9762" y="1019175"/>
            <a:ext cx="9401175" cy="1905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2231" y="428244"/>
            <a:ext cx="237680" cy="457580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11873966" y="6506552"/>
            <a:ext cx="137160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700" b="1" i="1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7E8257AA-0A8B-03F3-721C-28A144D7B474}"/>
              </a:ext>
            </a:extLst>
          </p:cNvPr>
          <p:cNvSpPr/>
          <p:nvPr/>
        </p:nvSpPr>
        <p:spPr>
          <a:xfrm>
            <a:off x="639762" y="1399361"/>
            <a:ext cx="873696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r>
              <a:rPr lang="zh-CN" altLang="en-US" sz="2300" b="1" dirty="0">
                <a:latin typeface="Microsoft YaHei"/>
                <a:ea typeface="Microsoft YaHei"/>
                <a:cs typeface="Microsoft YaHei"/>
              </a:rPr>
              <a:t>亚马逊评论</a:t>
            </a:r>
            <a:endParaRPr lang="en-US" altLang="zh-CN" sz="2300" b="1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83341"/>
              </a:lnSpc>
              <a:tabLst/>
            </a:pPr>
            <a:endParaRPr lang="en-US" altLang="zh-CN" sz="2300" b="1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83341"/>
              </a:lnSpc>
              <a:tabLst/>
            </a:pPr>
            <a:r>
              <a:rPr lang="zh-CN" altLang="en-US" sz="1400" dirty="0">
                <a:latin typeface="Microsoft YaHei"/>
                <a:ea typeface="Microsoft YaHei"/>
                <a:cs typeface="Microsoft YaHei"/>
              </a:rPr>
              <a:t>来自 </a:t>
            </a:r>
            <a:r>
              <a:rPr lang="en-US" altLang="zh-CN" sz="1400" dirty="0">
                <a:latin typeface="Microsoft YaHei"/>
                <a:ea typeface="Microsoft YaHei"/>
                <a:cs typeface="Microsoft YaHei"/>
              </a:rPr>
              <a:t>6,643,669 </a:t>
            </a:r>
            <a:r>
              <a:rPr lang="zh-CN" altLang="en-US" sz="1400" dirty="0">
                <a:latin typeface="Microsoft YaHei"/>
                <a:ea typeface="Microsoft YaHei"/>
                <a:cs typeface="Microsoft YaHei"/>
              </a:rPr>
              <a:t>位用户的 </a:t>
            </a:r>
            <a:r>
              <a:rPr lang="en-US" altLang="zh-CN" sz="1400" dirty="0">
                <a:latin typeface="Microsoft YaHei"/>
                <a:ea typeface="Microsoft YaHei"/>
                <a:cs typeface="Microsoft YaHei"/>
              </a:rPr>
              <a:t>34,686,770 </a:t>
            </a:r>
            <a:r>
              <a:rPr lang="zh-CN" altLang="en-US" sz="1400" dirty="0">
                <a:latin typeface="Microsoft YaHei"/>
                <a:ea typeface="Microsoft YaHei"/>
                <a:cs typeface="Microsoft YaHei"/>
              </a:rPr>
              <a:t>条亚马逊评论，涵盖 </a:t>
            </a:r>
            <a:r>
              <a:rPr lang="en-US" altLang="zh-CN" sz="1400" dirty="0">
                <a:latin typeface="Microsoft YaHei"/>
                <a:ea typeface="Microsoft YaHei"/>
                <a:cs typeface="Microsoft YaHei"/>
              </a:rPr>
              <a:t>2,441,053 </a:t>
            </a:r>
            <a:r>
              <a:rPr lang="zh-CN" altLang="en-US" sz="1400" dirty="0">
                <a:latin typeface="Microsoft YaHei"/>
                <a:ea typeface="Microsoft YaHei"/>
                <a:cs typeface="Microsoft YaHei"/>
              </a:rPr>
              <a:t>种产品</a:t>
            </a:r>
            <a:endParaRPr lang="zh-CN" altLang="en-US"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F8BCB4-EA94-98AA-AA07-D988FF21E8FB}"/>
              </a:ext>
            </a:extLst>
          </p:cNvPr>
          <p:cNvSpPr txBox="1"/>
          <p:nvPr/>
        </p:nvSpPr>
        <p:spPr>
          <a:xfrm>
            <a:off x="569911" y="3144203"/>
            <a:ext cx="1035538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spcAft>
                <a:spcPts val="1200"/>
              </a:spcAft>
              <a:buNone/>
            </a:pPr>
            <a:r>
              <a:rPr lang="en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CSV </a:t>
            </a:r>
            <a:r>
              <a:rPr lang="zh-CN" altLang="en-US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文件包含 </a:t>
            </a:r>
            <a:r>
              <a:rPr lang="en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polarity </a:t>
            </a:r>
            <a:r>
              <a:rPr lang="zh-CN" altLang="e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 </a:t>
            </a:r>
            <a:r>
              <a:rPr lang="en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title </a:t>
            </a:r>
            <a:r>
              <a:rPr lang="zh-CN" altLang="e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 </a:t>
            </a:r>
            <a:r>
              <a:rPr lang="en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text </a:t>
            </a:r>
            <a:r>
              <a:rPr lang="zh-CN" altLang="e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zh-CN" altLang="en-US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这三列分别对应类别索引（</a:t>
            </a:r>
            <a:r>
              <a:rPr lang="en-US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或 </a:t>
            </a:r>
            <a:r>
              <a:rPr lang="en-US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）、评论标题和评论内容。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polarity - 1 for negative and 2 for positive</a:t>
            </a:r>
            <a:br>
              <a:rPr lang="en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lang="zh-CN" altLang="en-US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极性 </a:t>
            </a:r>
            <a:r>
              <a:rPr lang="en-US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- 1 </a:t>
            </a:r>
            <a:r>
              <a:rPr lang="zh-CN" altLang="en-US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表示负面，</a:t>
            </a:r>
            <a:r>
              <a:rPr lang="en-US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表示正面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title - review heading</a:t>
            </a:r>
            <a:br>
              <a:rPr lang="en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lang="zh-CN" altLang="en-US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标题 </a:t>
            </a:r>
            <a:r>
              <a:rPr lang="en-US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评论标题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text - review body</a:t>
            </a:r>
            <a:br>
              <a:rPr lang="en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lang="zh-CN" altLang="en-US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文本 </a:t>
            </a:r>
            <a:r>
              <a:rPr lang="en-US" altLang="zh-CN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评论正文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C6250-9D0B-92AD-B6CC-D04D009D2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 28">
            <a:extLst>
              <a:ext uri="{FF2B5EF4-FFF2-40B4-BE49-F238E27FC236}">
                <a16:creationId xmlns:a16="http://schemas.microsoft.com/office/drawing/2014/main" id="{2C45BE20-A4C8-5BEA-EAAD-11A3A6B27351}"/>
              </a:ext>
            </a:extLst>
          </p:cNvPr>
          <p:cNvSpPr/>
          <p:nvPr/>
        </p:nvSpPr>
        <p:spPr>
          <a:xfrm>
            <a:off x="0" y="6347459"/>
            <a:ext cx="12192000" cy="510540"/>
          </a:xfrm>
          <a:prstGeom prst="rect">
            <a:avLst/>
          </a:prstGeom>
          <a:solidFill>
            <a:srgbClr val="00447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8049E015-F069-5685-2E50-203F6B16E6B3}"/>
              </a:ext>
            </a:extLst>
          </p:cNvPr>
          <p:cNvSpPr/>
          <p:nvPr/>
        </p:nvSpPr>
        <p:spPr>
          <a:xfrm>
            <a:off x="744637" y="467640"/>
            <a:ext cx="1641475" cy="467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lang="en-US" sz="3200" b="1" kern="0" spc="-30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数据来源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>
            <a:extLst>
              <a:ext uri="{FF2B5EF4-FFF2-40B4-BE49-F238E27FC236}">
                <a16:creationId xmlns:a16="http://schemas.microsoft.com/office/drawing/2014/main" id="{3B807813-4410-0FDE-24C5-CAE8D0107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312652" y="131064"/>
            <a:ext cx="742188" cy="861059"/>
          </a:xfrm>
          <a:prstGeom prst="rect">
            <a:avLst/>
          </a:prstGeom>
        </p:spPr>
      </p:pic>
      <p:pic>
        <p:nvPicPr>
          <p:cNvPr id="36" name="picture 36">
            <a:extLst>
              <a:ext uri="{FF2B5EF4-FFF2-40B4-BE49-F238E27FC236}">
                <a16:creationId xmlns:a16="http://schemas.microsoft.com/office/drawing/2014/main" id="{167BD383-A7E3-F46E-435E-74C0F4223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9762" y="1019175"/>
            <a:ext cx="9401175" cy="19050"/>
          </a:xfrm>
          <a:prstGeom prst="rect">
            <a:avLst/>
          </a:prstGeom>
        </p:spPr>
      </p:pic>
      <p:pic>
        <p:nvPicPr>
          <p:cNvPr id="38" name="picture 38">
            <a:extLst>
              <a:ext uri="{FF2B5EF4-FFF2-40B4-BE49-F238E27FC236}">
                <a16:creationId xmlns:a16="http://schemas.microsoft.com/office/drawing/2014/main" id="{D1BF281D-39A5-1D52-BBBC-BCC4BB827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2231" y="428244"/>
            <a:ext cx="237680" cy="457580"/>
          </a:xfrm>
          <a:prstGeom prst="rect">
            <a:avLst/>
          </a:prstGeom>
        </p:spPr>
      </p:pic>
      <p:sp>
        <p:nvSpPr>
          <p:cNvPr id="40" name="textbox 40">
            <a:extLst>
              <a:ext uri="{FF2B5EF4-FFF2-40B4-BE49-F238E27FC236}">
                <a16:creationId xmlns:a16="http://schemas.microsoft.com/office/drawing/2014/main" id="{70A108AB-BF43-C6F7-D3E7-8DA797C9D27B}"/>
              </a:ext>
            </a:extLst>
          </p:cNvPr>
          <p:cNvSpPr/>
          <p:nvPr/>
        </p:nvSpPr>
        <p:spPr>
          <a:xfrm>
            <a:off x="11873966" y="6506552"/>
            <a:ext cx="137160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700" b="1" i="1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ED9542-9534-8DBF-CB06-F4F78EAB9E7A}"/>
              </a:ext>
            </a:extLst>
          </p:cNvPr>
          <p:cNvSpPr txBox="1"/>
          <p:nvPr/>
        </p:nvSpPr>
        <p:spPr>
          <a:xfrm>
            <a:off x="569911" y="1435983"/>
            <a:ext cx="10355388" cy="5536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lnSpc>
                <a:spcPct val="150000"/>
              </a:lnSpc>
              <a:spcAft>
                <a:spcPts val="1200"/>
              </a:spcAft>
              <a:buNone/>
            </a:pPr>
            <a:r>
              <a:rPr lang="en" altLang="zh-CN" sz="2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exp2</a:t>
            </a:r>
            <a:r>
              <a:rPr lang="zh-CN" altLang="en-US" sz="2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文件包含 </a:t>
            </a:r>
            <a:r>
              <a:rPr lang="en-US" altLang="zh-CN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test.csv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en-US" altLang="zh-CN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dev.csv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以及原始的</a:t>
            </a:r>
            <a:r>
              <a:rPr lang="en-US" altLang="zh-CN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train.csv</a:t>
            </a:r>
            <a:endParaRPr lang="en-US" altLang="zh-CN" sz="2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 fontAlgn="base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需要测试在全部</a:t>
            </a: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test.csv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上的效果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 fontAlgn="base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dev.csv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可以作为开发集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 fontAlgn="base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可以使用一部分， 具体用多少？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fontAlgn="base"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如何从</a:t>
            </a:r>
            <a:r>
              <a:rPr lang="en-US" altLang="zh-CN" sz="240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train.csv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中筛选出高质量的数据子集</a:t>
            </a:r>
            <a:endParaRPr lang="en-US" altLang="zh-CN" sz="24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 fontAlgn="base">
              <a:lnSpc>
                <a:spcPct val="150000"/>
              </a:lnSpc>
              <a:spcAft>
                <a:spcPts val="1200"/>
              </a:spcAft>
              <a:buNone/>
            </a:pPr>
            <a:endParaRPr lang="en-US" altLang="zh-CN" sz="2400" dirty="0">
              <a:solidFill>
                <a:srgbClr val="3C404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 fontAlgn="base">
              <a:lnSpc>
                <a:spcPct val="150000"/>
              </a:lnSpc>
              <a:spcAft>
                <a:spcPts val="1200"/>
              </a:spcAft>
              <a:buNone/>
            </a:pPr>
            <a:endParaRPr lang="zh-CN" altLang="en-US" sz="2400" dirty="0">
              <a:solidFill>
                <a:srgbClr val="3C404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4265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DEE6-F48A-D736-7E02-EA3B3851C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>
            <a:extLst>
              <a:ext uri="{FF2B5EF4-FFF2-40B4-BE49-F238E27FC236}">
                <a16:creationId xmlns:a16="http://schemas.microsoft.com/office/drawing/2014/main" id="{A3856FAA-91A8-87E3-70E7-1FE77E692761}"/>
              </a:ext>
            </a:extLst>
          </p:cNvPr>
          <p:cNvSpPr/>
          <p:nvPr/>
        </p:nvSpPr>
        <p:spPr>
          <a:xfrm>
            <a:off x="818378" y="1712452"/>
            <a:ext cx="10812737" cy="4610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lang="zh-CN" altLang="en-US" b="1" dirty="0"/>
              <a:t>目标</a:t>
            </a:r>
            <a:r>
              <a:rPr lang="zh-CN" altLang="en-US" dirty="0"/>
              <a:t>：使用</a:t>
            </a:r>
            <a:r>
              <a:rPr lang="en" altLang="zh-CN" b="1" kern="0" spc="80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TextCNN</a:t>
            </a:r>
            <a:r>
              <a:rPr lang="zh-CN" altLang="en-US" dirty="0"/>
              <a:t>模型对产品评论进行情感分析，将评论分为“正面”和“负面”情感。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b="1" dirty="0"/>
              <a:t>1. </a:t>
            </a:r>
            <a:r>
              <a:rPr lang="zh-CN" altLang="en-US" b="1" dirty="0"/>
              <a:t>模型选择：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  可以选择</a:t>
            </a:r>
            <a:r>
              <a:rPr lang="en" altLang="zh-CN" b="1" kern="0" spc="80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TextCNN</a:t>
            </a:r>
            <a:r>
              <a:rPr lang="zh-CN" altLang="en-US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（</a:t>
            </a:r>
            <a:r>
              <a:rPr lang="en-US" altLang="zh-CN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Kim</a:t>
            </a:r>
            <a:r>
              <a:rPr lang="zh-CN" altLang="en-US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，</a:t>
            </a:r>
            <a:r>
              <a:rPr lang="en-US" altLang="zh-CN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2015</a:t>
            </a:r>
            <a:r>
              <a:rPr lang="zh-CN" altLang="en-US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）</a:t>
            </a:r>
            <a:r>
              <a:rPr lang="zh-CN" altLang="en-US" dirty="0"/>
              <a:t>作为预训练模型进行</a:t>
            </a:r>
            <a:r>
              <a:rPr lang="en" altLang="zh-CN" dirty="0"/>
              <a:t>fine-tuning</a:t>
            </a:r>
            <a:r>
              <a:rPr lang="zh-CN" altLang="en-US" dirty="0"/>
              <a:t>， 采用标准的</a:t>
            </a:r>
            <a:r>
              <a:rPr lang="en" altLang="zh-CN" dirty="0"/>
              <a:t>CNN</a:t>
            </a:r>
            <a:r>
              <a:rPr lang="zh-CN" altLang="en-US" dirty="0"/>
              <a:t>架构，可以选择上下文窗口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embedding</a:t>
            </a:r>
            <a:r>
              <a:rPr lang="zh-CN" altLang="en-US" dirty="0"/>
              <a:t>可以使用上一次训练好的</a:t>
            </a:r>
            <a:r>
              <a:rPr lang="en-US" altLang="zh-CN" dirty="0"/>
              <a:t>word2vec</a:t>
            </a:r>
            <a:r>
              <a:rPr lang="zh-CN" altLang="en-US" dirty="0"/>
              <a:t>也可以用随机初始化的。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数据集准备：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   使用你的数据格式，构建训练集，其中每条评论已经包含了情感标签（</a:t>
            </a:r>
            <a:r>
              <a:rPr lang="en-US" altLang="zh-CN" dirty="0"/>
              <a:t>1 </a:t>
            </a:r>
            <a:r>
              <a:rPr lang="zh-CN" altLang="en-US" dirty="0"/>
              <a:t>表示负面，</a:t>
            </a:r>
            <a:r>
              <a:rPr lang="en-US" altLang="zh-CN" dirty="0"/>
              <a:t>2 </a:t>
            </a:r>
            <a:r>
              <a:rPr lang="zh-CN" altLang="en-US" dirty="0"/>
              <a:t>表示正面）。</a:t>
            </a:r>
            <a:endParaRPr lang="en-US" altLang="zh-C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3. </a:t>
            </a:r>
            <a:r>
              <a:rPr lang="zh-CN" altLang="en-US" b="1" dirty="0"/>
              <a:t>数据预处理：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  进行文本清洗和预处理，删除无关的标点符号、特殊字符。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使用</a:t>
            </a:r>
            <a:r>
              <a:rPr lang="en" altLang="zh-CN" dirty="0" err="1"/>
              <a:t>nltk</a:t>
            </a:r>
            <a:r>
              <a:rPr lang="zh-CN" altLang="en" dirty="0"/>
              <a:t>或者</a:t>
            </a:r>
            <a:r>
              <a:rPr lang="zh-CN" altLang="en-US" dirty="0"/>
              <a:t>自定义的的</a:t>
            </a:r>
            <a:r>
              <a:rPr lang="en" altLang="zh-CN" dirty="0"/>
              <a:t>tokenizer</a:t>
            </a:r>
            <a:r>
              <a:rPr lang="zh-CN" altLang="en-US" dirty="0"/>
              <a:t>进行分词或者也可以不分词，将文本转化为模型的输入格式。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b="1" dirty="0"/>
              <a:t>4. </a:t>
            </a:r>
            <a:r>
              <a:rPr lang="zh-CN" altLang="en-US" b="1" dirty="0"/>
              <a:t>模型训练：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采用常规的优化器（如</a:t>
            </a:r>
            <a:r>
              <a:rPr lang="en" altLang="zh-CN" dirty="0"/>
              <a:t>Adam</a:t>
            </a:r>
            <a:r>
              <a:rPr lang="zh-CN" altLang="en" dirty="0"/>
              <a:t>）</a:t>
            </a:r>
            <a:r>
              <a:rPr lang="zh-CN" altLang="en-US" dirty="0"/>
              <a:t>和交叉熵损失函数。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可调整训练参数如学习率、</a:t>
            </a:r>
            <a:r>
              <a:rPr lang="en" altLang="zh-CN" dirty="0"/>
              <a:t>batch size</a:t>
            </a:r>
            <a:r>
              <a:rPr lang="zh-CN" altLang="en" dirty="0"/>
              <a:t>、</a:t>
            </a:r>
            <a:r>
              <a:rPr lang="en" altLang="zh-CN" dirty="0"/>
              <a:t>epochs</a:t>
            </a:r>
            <a:r>
              <a:rPr lang="zh-CN" altLang="en-US" dirty="0"/>
              <a:t>等。</a:t>
            </a:r>
          </a:p>
        </p:txBody>
      </p:sp>
      <p:sp>
        <p:nvSpPr>
          <p:cNvPr id="28" name="rect 28">
            <a:extLst>
              <a:ext uri="{FF2B5EF4-FFF2-40B4-BE49-F238E27FC236}">
                <a16:creationId xmlns:a16="http://schemas.microsoft.com/office/drawing/2014/main" id="{42F81BF7-34ED-6120-2AB4-F6B619DD7069}"/>
              </a:ext>
            </a:extLst>
          </p:cNvPr>
          <p:cNvSpPr/>
          <p:nvPr/>
        </p:nvSpPr>
        <p:spPr>
          <a:xfrm>
            <a:off x="0" y="6347459"/>
            <a:ext cx="12192000" cy="510540"/>
          </a:xfrm>
          <a:prstGeom prst="rect">
            <a:avLst/>
          </a:prstGeom>
          <a:solidFill>
            <a:srgbClr val="00447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>
              <a:lnSpc>
                <a:spcPct val="150000"/>
              </a:lnSpc>
            </a:pPr>
            <a:endParaRPr lang="zh-CN" altLang="en-US"/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4A1D6CF-101A-39D5-91CA-58227CBA76F7}"/>
              </a:ext>
            </a:extLst>
          </p:cNvPr>
          <p:cNvSpPr/>
          <p:nvPr/>
        </p:nvSpPr>
        <p:spPr>
          <a:xfrm>
            <a:off x="818379" y="1102217"/>
            <a:ext cx="8736965" cy="67500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50000"/>
              </a:lnSpc>
              <a:tabLst/>
            </a:pPr>
            <a:r>
              <a:rPr sz="2300" b="1" kern="0" spc="80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实验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一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基于</a:t>
            </a:r>
            <a:r>
              <a:rPr lang="en" altLang="zh-CN" sz="2300" b="1" kern="0" spc="80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TextCNN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的</a:t>
            </a:r>
            <a:r>
              <a:rPr lang="en" altLang="zh-CN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Amazon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数据集的情感分析</a:t>
            </a:r>
            <a:endParaRPr sz="2300" b="1" kern="0" spc="80" dirty="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053EB5D5-B618-0E7F-7325-2FF55ACAD942}"/>
              </a:ext>
            </a:extLst>
          </p:cNvPr>
          <p:cNvSpPr/>
          <p:nvPr/>
        </p:nvSpPr>
        <p:spPr>
          <a:xfrm>
            <a:off x="639762" y="191015"/>
            <a:ext cx="1791939" cy="91120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50000"/>
              </a:lnSpc>
              <a:tabLst/>
            </a:pP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实验要求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>
            <a:extLst>
              <a:ext uri="{FF2B5EF4-FFF2-40B4-BE49-F238E27FC236}">
                <a16:creationId xmlns:a16="http://schemas.microsoft.com/office/drawing/2014/main" id="{690ACCF4-B05C-0F69-2C27-C373D3436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312652" y="131064"/>
            <a:ext cx="742188" cy="861059"/>
          </a:xfrm>
          <a:prstGeom prst="rect">
            <a:avLst/>
          </a:prstGeom>
        </p:spPr>
      </p:pic>
      <p:pic>
        <p:nvPicPr>
          <p:cNvPr id="36" name="picture 36">
            <a:extLst>
              <a:ext uri="{FF2B5EF4-FFF2-40B4-BE49-F238E27FC236}">
                <a16:creationId xmlns:a16="http://schemas.microsoft.com/office/drawing/2014/main" id="{03CFC398-8F53-AC4F-93C5-E1601F3FE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9762" y="1019175"/>
            <a:ext cx="9401175" cy="19050"/>
          </a:xfrm>
          <a:prstGeom prst="rect">
            <a:avLst/>
          </a:prstGeom>
        </p:spPr>
      </p:pic>
      <p:pic>
        <p:nvPicPr>
          <p:cNvPr id="38" name="picture 38">
            <a:extLst>
              <a:ext uri="{FF2B5EF4-FFF2-40B4-BE49-F238E27FC236}">
                <a16:creationId xmlns:a16="http://schemas.microsoft.com/office/drawing/2014/main" id="{988C5A9E-AEDC-0B90-2D9E-411F25664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2231" y="428244"/>
            <a:ext cx="237680" cy="457580"/>
          </a:xfrm>
          <a:prstGeom prst="rect">
            <a:avLst/>
          </a:prstGeom>
        </p:spPr>
      </p:pic>
      <p:sp>
        <p:nvSpPr>
          <p:cNvPr id="40" name="textbox 40">
            <a:extLst>
              <a:ext uri="{FF2B5EF4-FFF2-40B4-BE49-F238E27FC236}">
                <a16:creationId xmlns:a16="http://schemas.microsoft.com/office/drawing/2014/main" id="{70D7A3AD-01F7-A1E9-6756-C02775DE7639}"/>
              </a:ext>
            </a:extLst>
          </p:cNvPr>
          <p:cNvSpPr/>
          <p:nvPr/>
        </p:nvSpPr>
        <p:spPr>
          <a:xfrm>
            <a:off x="11873966" y="6506552"/>
            <a:ext cx="137160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50000"/>
              </a:lnSpc>
              <a:tabLst/>
            </a:pPr>
            <a:r>
              <a:rPr sz="1700" b="1" i="1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033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0D4AE-7D22-7461-939F-FBA8DA64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>
            <a:extLst>
              <a:ext uri="{FF2B5EF4-FFF2-40B4-BE49-F238E27FC236}">
                <a16:creationId xmlns:a16="http://schemas.microsoft.com/office/drawing/2014/main" id="{286D7B60-784A-6348-5600-D7A002B14E52}"/>
              </a:ext>
            </a:extLst>
          </p:cNvPr>
          <p:cNvSpPr/>
          <p:nvPr/>
        </p:nvSpPr>
        <p:spPr>
          <a:xfrm>
            <a:off x="818378" y="1712452"/>
            <a:ext cx="10812737" cy="4610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lang="zh-CN" altLang="en-US" b="1" dirty="0"/>
              <a:t>目标</a:t>
            </a:r>
            <a:r>
              <a:rPr lang="zh-CN" altLang="en-US" dirty="0"/>
              <a:t>：使用</a:t>
            </a:r>
            <a:r>
              <a:rPr lang="en" altLang="zh-CN" dirty="0"/>
              <a:t>BERT</a:t>
            </a:r>
            <a:r>
              <a:rPr lang="zh-CN" altLang="en-US" dirty="0"/>
              <a:t>模型对产品评论进行情感分析，将评论分为“正面”和“负面”情感。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b="1" dirty="0"/>
              <a:t>1. </a:t>
            </a:r>
            <a:r>
              <a:rPr lang="zh-CN" altLang="en-US" b="1" dirty="0"/>
              <a:t>模型选择：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  可以选择</a:t>
            </a:r>
            <a:r>
              <a:rPr lang="en" altLang="zh-CN" dirty="0" err="1"/>
              <a:t>bert</a:t>
            </a:r>
            <a:r>
              <a:rPr lang="en" altLang="zh-CN" dirty="0"/>
              <a:t>-base-uncased</a:t>
            </a:r>
            <a:r>
              <a:rPr lang="zh-CN" altLang="en-US" dirty="0"/>
              <a:t>作为预训练模型进行</a:t>
            </a:r>
            <a:r>
              <a:rPr lang="en" altLang="zh-CN" dirty="0"/>
              <a:t>fine-tuning</a:t>
            </a:r>
            <a:r>
              <a:rPr lang="zh-CN" altLang="en-US" dirty="0"/>
              <a:t>，基于</a:t>
            </a:r>
            <a:r>
              <a:rPr lang="en-US" altLang="zh-CN" dirty="0"/>
              <a:t>Transformer</a:t>
            </a:r>
            <a:r>
              <a:rPr lang="zh-CN" altLang="en-US" dirty="0"/>
              <a:t>包</a:t>
            </a:r>
            <a:r>
              <a:rPr lang="zh-CN" altLang="en" dirty="0"/>
              <a:t>。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  采用标准的</a:t>
            </a:r>
            <a:r>
              <a:rPr lang="en" altLang="zh-CN" dirty="0"/>
              <a:t>BERT</a:t>
            </a:r>
            <a:r>
              <a:rPr lang="zh-CN" altLang="en-US" dirty="0"/>
              <a:t>架构，只需要在最后一层加上一个分类头来完成情感分类。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数据集准备：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   使用你的数据格式，其中每条评论已经包含了情感标签（</a:t>
            </a:r>
            <a:r>
              <a:rPr lang="en-US" altLang="zh-CN" dirty="0"/>
              <a:t>1 </a:t>
            </a:r>
            <a:r>
              <a:rPr lang="zh-CN" altLang="en-US" dirty="0"/>
              <a:t>表示负面，</a:t>
            </a:r>
            <a:r>
              <a:rPr lang="en-US" altLang="zh-CN" dirty="0"/>
              <a:t>2 </a:t>
            </a:r>
            <a:r>
              <a:rPr lang="zh-CN" altLang="en-US" dirty="0"/>
              <a:t>表示正面）。</a:t>
            </a:r>
            <a:endParaRPr lang="en-US" altLang="zh-C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3. </a:t>
            </a:r>
            <a:r>
              <a:rPr lang="zh-CN" altLang="en-US" b="1" dirty="0"/>
              <a:t>数据预处理：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  进行文本清洗和预处理，删除无关的标点符号、特殊字符。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使用</a:t>
            </a:r>
            <a:r>
              <a:rPr lang="en" altLang="zh-CN" dirty="0"/>
              <a:t>BERT</a:t>
            </a:r>
            <a:r>
              <a:rPr lang="zh-CN" altLang="en-US" dirty="0"/>
              <a:t>的</a:t>
            </a:r>
            <a:r>
              <a:rPr lang="en" altLang="zh-CN" dirty="0"/>
              <a:t>tokenizer</a:t>
            </a:r>
            <a:r>
              <a:rPr lang="zh-CN" altLang="en-US" dirty="0"/>
              <a:t>进行分词，将文本转化为模型的输入格式。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b="1" dirty="0"/>
              <a:t>4. </a:t>
            </a:r>
            <a:r>
              <a:rPr lang="zh-CN" altLang="en-US" b="1" dirty="0"/>
              <a:t>模型训练：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  微调</a:t>
            </a:r>
            <a:r>
              <a:rPr lang="en" altLang="zh-CN" dirty="0"/>
              <a:t>BERT</a:t>
            </a:r>
            <a:r>
              <a:rPr lang="zh-CN" altLang="en-US" dirty="0"/>
              <a:t>模型，采用常规的优化器（如</a:t>
            </a:r>
            <a:r>
              <a:rPr lang="en" altLang="zh-CN" dirty="0" err="1"/>
              <a:t>AdamW</a:t>
            </a:r>
            <a:r>
              <a:rPr lang="zh-CN" altLang="en" dirty="0"/>
              <a:t>）</a:t>
            </a:r>
            <a:r>
              <a:rPr lang="zh-CN" altLang="en-US" dirty="0"/>
              <a:t>和交叉熵损失函数。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可调整训练参数如学习率、</a:t>
            </a:r>
            <a:r>
              <a:rPr lang="en" altLang="zh-CN" dirty="0"/>
              <a:t>batch size</a:t>
            </a:r>
            <a:r>
              <a:rPr lang="zh-CN" altLang="en" dirty="0"/>
              <a:t>、</a:t>
            </a:r>
            <a:r>
              <a:rPr lang="en" altLang="zh-CN" dirty="0"/>
              <a:t>epochs</a:t>
            </a:r>
            <a:r>
              <a:rPr lang="zh-CN" altLang="en-US" dirty="0"/>
              <a:t>等。</a:t>
            </a:r>
          </a:p>
        </p:txBody>
      </p:sp>
      <p:sp>
        <p:nvSpPr>
          <p:cNvPr id="28" name="rect 28">
            <a:extLst>
              <a:ext uri="{FF2B5EF4-FFF2-40B4-BE49-F238E27FC236}">
                <a16:creationId xmlns:a16="http://schemas.microsoft.com/office/drawing/2014/main" id="{B022C15D-91FF-2F11-A200-82E31552C758}"/>
              </a:ext>
            </a:extLst>
          </p:cNvPr>
          <p:cNvSpPr/>
          <p:nvPr/>
        </p:nvSpPr>
        <p:spPr>
          <a:xfrm>
            <a:off x="0" y="6347459"/>
            <a:ext cx="12192000" cy="510540"/>
          </a:xfrm>
          <a:prstGeom prst="rect">
            <a:avLst/>
          </a:prstGeom>
          <a:solidFill>
            <a:srgbClr val="00447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>
              <a:lnSpc>
                <a:spcPct val="150000"/>
              </a:lnSpc>
            </a:pPr>
            <a:endParaRPr lang="zh-CN" altLang="en-US"/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5D55A373-0CB8-E46B-31CB-389CA34B5BBA}"/>
              </a:ext>
            </a:extLst>
          </p:cNvPr>
          <p:cNvSpPr/>
          <p:nvPr/>
        </p:nvSpPr>
        <p:spPr>
          <a:xfrm>
            <a:off x="818379" y="1102217"/>
            <a:ext cx="8736965" cy="67500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50000"/>
              </a:lnSpc>
              <a:tabLst/>
            </a:pPr>
            <a:r>
              <a:rPr sz="2300" b="1" kern="0" spc="80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实验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二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基于</a:t>
            </a:r>
            <a:r>
              <a:rPr lang="en" altLang="zh-CN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BERT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的</a:t>
            </a:r>
            <a:r>
              <a:rPr lang="en" altLang="zh-CN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Amazon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数据集的情感分析</a:t>
            </a:r>
            <a:endParaRPr sz="2300" b="1" kern="0" spc="80" dirty="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A583110-528B-BDAC-8857-EC75BEF457C9}"/>
              </a:ext>
            </a:extLst>
          </p:cNvPr>
          <p:cNvSpPr/>
          <p:nvPr/>
        </p:nvSpPr>
        <p:spPr>
          <a:xfrm>
            <a:off x="639762" y="191015"/>
            <a:ext cx="1791939" cy="91120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50000"/>
              </a:lnSpc>
              <a:tabLst/>
            </a:pP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实验要求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>
            <a:extLst>
              <a:ext uri="{FF2B5EF4-FFF2-40B4-BE49-F238E27FC236}">
                <a16:creationId xmlns:a16="http://schemas.microsoft.com/office/drawing/2014/main" id="{5FA89DA2-20FE-5F71-6D2D-AFB2AD72B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312652" y="131064"/>
            <a:ext cx="742188" cy="861059"/>
          </a:xfrm>
          <a:prstGeom prst="rect">
            <a:avLst/>
          </a:prstGeom>
        </p:spPr>
      </p:pic>
      <p:pic>
        <p:nvPicPr>
          <p:cNvPr id="36" name="picture 36">
            <a:extLst>
              <a:ext uri="{FF2B5EF4-FFF2-40B4-BE49-F238E27FC236}">
                <a16:creationId xmlns:a16="http://schemas.microsoft.com/office/drawing/2014/main" id="{B0D9E967-B534-53AD-E5F2-A74D364FE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9762" y="1019175"/>
            <a:ext cx="9401175" cy="19050"/>
          </a:xfrm>
          <a:prstGeom prst="rect">
            <a:avLst/>
          </a:prstGeom>
        </p:spPr>
      </p:pic>
      <p:pic>
        <p:nvPicPr>
          <p:cNvPr id="38" name="picture 38">
            <a:extLst>
              <a:ext uri="{FF2B5EF4-FFF2-40B4-BE49-F238E27FC236}">
                <a16:creationId xmlns:a16="http://schemas.microsoft.com/office/drawing/2014/main" id="{03B6BE55-D318-9FBC-DB95-21B3A153B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2231" y="428244"/>
            <a:ext cx="237680" cy="457580"/>
          </a:xfrm>
          <a:prstGeom prst="rect">
            <a:avLst/>
          </a:prstGeom>
        </p:spPr>
      </p:pic>
      <p:sp>
        <p:nvSpPr>
          <p:cNvPr id="40" name="textbox 40">
            <a:extLst>
              <a:ext uri="{FF2B5EF4-FFF2-40B4-BE49-F238E27FC236}">
                <a16:creationId xmlns:a16="http://schemas.microsoft.com/office/drawing/2014/main" id="{BD63C8AC-117E-93C6-EF78-75B992C5B3B0}"/>
              </a:ext>
            </a:extLst>
          </p:cNvPr>
          <p:cNvSpPr/>
          <p:nvPr/>
        </p:nvSpPr>
        <p:spPr>
          <a:xfrm>
            <a:off x="11873966" y="6506552"/>
            <a:ext cx="137160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50000"/>
              </a:lnSpc>
              <a:tabLst/>
            </a:pPr>
            <a:r>
              <a:rPr sz="1700" b="1" i="1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312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B6C2-C43B-30BC-771F-66C8D7A42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>
            <a:extLst>
              <a:ext uri="{FF2B5EF4-FFF2-40B4-BE49-F238E27FC236}">
                <a16:creationId xmlns:a16="http://schemas.microsoft.com/office/drawing/2014/main" id="{79EDFE67-F5D1-6F53-AF6E-B1BE20206BD5}"/>
              </a:ext>
            </a:extLst>
          </p:cNvPr>
          <p:cNvSpPr/>
          <p:nvPr/>
        </p:nvSpPr>
        <p:spPr>
          <a:xfrm>
            <a:off x="818378" y="1712452"/>
            <a:ext cx="10124277" cy="4610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lang="en-US" altLang="zh-CN" b="1" dirty="0"/>
              <a:t>5. </a:t>
            </a:r>
            <a:r>
              <a:rPr lang="zh-CN" altLang="en-US" b="1" dirty="0"/>
              <a:t>评估指标：</a:t>
            </a:r>
            <a:endParaRPr lang="en-US" altLang="zh-CN" b="1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70C0"/>
                </a:solidFill>
              </a:rPr>
              <a:t> 准确率</a:t>
            </a:r>
            <a:r>
              <a:rPr lang="zh-CN" altLang="en-US" dirty="0">
                <a:solidFill>
                  <a:srgbClr val="0070C0"/>
                </a:solidFill>
              </a:rPr>
              <a:t>（</a:t>
            </a:r>
            <a:r>
              <a:rPr lang="en" altLang="zh-CN" dirty="0">
                <a:solidFill>
                  <a:srgbClr val="0070C0"/>
                </a:solidFill>
              </a:rPr>
              <a:t>Accuracy</a:t>
            </a:r>
            <a:r>
              <a:rPr lang="zh-CN" altLang="en" dirty="0">
                <a:solidFill>
                  <a:srgbClr val="0070C0"/>
                </a:solidFill>
              </a:rPr>
              <a:t>）：</a:t>
            </a:r>
            <a:r>
              <a:rPr lang="zh-CN" altLang="en-US" dirty="0">
                <a:solidFill>
                  <a:srgbClr val="0070C0"/>
                </a:solidFill>
              </a:rPr>
              <a:t>评估模型正确分类的比例</a:t>
            </a:r>
            <a:endParaRPr lang="en-US" altLang="zh-CN" dirty="0">
              <a:solidFill>
                <a:srgbClr val="0070C0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70C0"/>
                </a:solidFill>
              </a:rPr>
              <a:t> </a:t>
            </a:r>
            <a:r>
              <a:rPr lang="en" altLang="zh-CN" b="1" dirty="0">
                <a:solidFill>
                  <a:srgbClr val="0070C0"/>
                </a:solidFill>
              </a:rPr>
              <a:t>F1-score</a:t>
            </a:r>
            <a:r>
              <a:rPr lang="zh-CN" altLang="en" dirty="0">
                <a:solidFill>
                  <a:srgbClr val="0070C0"/>
                </a:solidFill>
              </a:rPr>
              <a:t>：</a:t>
            </a:r>
            <a:r>
              <a:rPr lang="zh-CN" altLang="en-US" dirty="0">
                <a:solidFill>
                  <a:srgbClr val="0070C0"/>
                </a:solidFill>
              </a:rPr>
              <a:t>考虑类别不平衡时，能够更全面地评估分类性能</a:t>
            </a:r>
            <a:endParaRPr lang="en-US" altLang="zh-CN" dirty="0">
              <a:solidFill>
                <a:srgbClr val="0070C0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70C0"/>
                </a:solidFill>
              </a:rPr>
              <a:t> </a:t>
            </a:r>
            <a:r>
              <a:rPr lang="en" altLang="zh-CN" b="1" dirty="0">
                <a:solidFill>
                  <a:srgbClr val="0070C0"/>
                </a:solidFill>
              </a:rPr>
              <a:t>AUC-ROC</a:t>
            </a:r>
            <a:r>
              <a:rPr lang="zh-CN" altLang="en" dirty="0">
                <a:solidFill>
                  <a:srgbClr val="0070C0"/>
                </a:solidFill>
              </a:rPr>
              <a:t>：</a:t>
            </a:r>
            <a:r>
              <a:rPr lang="zh-CN" altLang="en-US" dirty="0">
                <a:solidFill>
                  <a:srgbClr val="0070C0"/>
                </a:solidFill>
              </a:rPr>
              <a:t>评估模型区分正负情感的能力</a:t>
            </a:r>
            <a:endParaRPr lang="en-US" altLang="zh-CN" dirty="0">
              <a:solidFill>
                <a:srgbClr val="0070C0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70C0"/>
                </a:solidFill>
              </a:rPr>
              <a:t> 混淆矩阵</a:t>
            </a:r>
            <a:r>
              <a:rPr lang="zh-CN" altLang="en-US" dirty="0">
                <a:solidFill>
                  <a:srgbClr val="0070C0"/>
                </a:solidFill>
              </a:rPr>
              <a:t>：检查正面和负面情感的分类效果，分析模型的分类错误类型。</a:t>
            </a:r>
            <a:endParaRPr lang="en-US" altLang="zh-CN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由于数据本身情感分布的不同，可以采用交叉验证进行模型的鲁棒性测试。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b="1" dirty="0"/>
              <a:t>6. </a:t>
            </a:r>
            <a:r>
              <a:rPr lang="zh-CN" altLang="en-US" b="1" dirty="0"/>
              <a:t>对比实验：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对比</a:t>
            </a:r>
            <a:r>
              <a:rPr lang="en" altLang="zh-CN" dirty="0"/>
              <a:t>BERT</a:t>
            </a:r>
            <a:r>
              <a:rPr lang="zh-CN" altLang="en-US" dirty="0"/>
              <a:t>模型与传统机器学习模型（如支持向量机</a:t>
            </a:r>
            <a:r>
              <a:rPr lang="en" altLang="zh-CN" dirty="0"/>
              <a:t>SVM</a:t>
            </a:r>
            <a:r>
              <a:rPr lang="zh-CN" altLang="en" dirty="0"/>
              <a:t>、</a:t>
            </a:r>
            <a:r>
              <a:rPr lang="zh-CN" altLang="en-US" dirty="0"/>
              <a:t>朴素贝叶斯等）的效果，评估</a:t>
            </a:r>
            <a:r>
              <a:rPr lang="en" altLang="zh-CN" dirty="0"/>
              <a:t>BERT</a:t>
            </a:r>
            <a:r>
              <a:rPr lang="zh-CN" altLang="en-US" dirty="0"/>
              <a:t>模型的优势。</a:t>
            </a:r>
          </a:p>
        </p:txBody>
      </p:sp>
      <p:sp>
        <p:nvSpPr>
          <p:cNvPr id="28" name="rect 28">
            <a:extLst>
              <a:ext uri="{FF2B5EF4-FFF2-40B4-BE49-F238E27FC236}">
                <a16:creationId xmlns:a16="http://schemas.microsoft.com/office/drawing/2014/main" id="{39286FD0-D925-ABB7-762F-6101770F67E5}"/>
              </a:ext>
            </a:extLst>
          </p:cNvPr>
          <p:cNvSpPr/>
          <p:nvPr/>
        </p:nvSpPr>
        <p:spPr>
          <a:xfrm>
            <a:off x="0" y="6347459"/>
            <a:ext cx="12192000" cy="510540"/>
          </a:xfrm>
          <a:prstGeom prst="rect">
            <a:avLst/>
          </a:prstGeom>
          <a:solidFill>
            <a:srgbClr val="00447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>
              <a:lnSpc>
                <a:spcPct val="150000"/>
              </a:lnSpc>
            </a:pPr>
            <a:endParaRPr lang="zh-CN" altLang="en-US"/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4EED77E9-425A-5F1A-C733-E648AB0BBEF2}"/>
              </a:ext>
            </a:extLst>
          </p:cNvPr>
          <p:cNvSpPr/>
          <p:nvPr/>
        </p:nvSpPr>
        <p:spPr>
          <a:xfrm>
            <a:off x="818379" y="1102217"/>
            <a:ext cx="8736965" cy="67500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50000"/>
              </a:lnSpc>
              <a:tabLst/>
            </a:pPr>
            <a:r>
              <a:rPr sz="2300" b="1" kern="0" spc="80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实验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二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基于</a:t>
            </a:r>
            <a:r>
              <a:rPr lang="en" altLang="zh-CN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BERT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的</a:t>
            </a:r>
            <a:r>
              <a:rPr lang="en" altLang="zh-CN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Amazon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数据集的情感分析</a:t>
            </a:r>
            <a:endParaRPr sz="2300" b="1" kern="0" spc="80" dirty="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495BCDE0-347B-F0C9-192C-3E5F96E3F005}"/>
              </a:ext>
            </a:extLst>
          </p:cNvPr>
          <p:cNvSpPr/>
          <p:nvPr/>
        </p:nvSpPr>
        <p:spPr>
          <a:xfrm>
            <a:off x="639762" y="191015"/>
            <a:ext cx="1791939" cy="91120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50000"/>
              </a:lnSpc>
              <a:tabLst/>
            </a:pP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实验要求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>
            <a:extLst>
              <a:ext uri="{FF2B5EF4-FFF2-40B4-BE49-F238E27FC236}">
                <a16:creationId xmlns:a16="http://schemas.microsoft.com/office/drawing/2014/main" id="{8EDCBDFF-97E0-05C0-249D-46E46F5E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312652" y="131064"/>
            <a:ext cx="742188" cy="861059"/>
          </a:xfrm>
          <a:prstGeom prst="rect">
            <a:avLst/>
          </a:prstGeom>
        </p:spPr>
      </p:pic>
      <p:pic>
        <p:nvPicPr>
          <p:cNvPr id="36" name="picture 36">
            <a:extLst>
              <a:ext uri="{FF2B5EF4-FFF2-40B4-BE49-F238E27FC236}">
                <a16:creationId xmlns:a16="http://schemas.microsoft.com/office/drawing/2014/main" id="{AE23FF43-DCF4-2628-FD05-6F7B08EA3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9762" y="1019175"/>
            <a:ext cx="9401175" cy="19050"/>
          </a:xfrm>
          <a:prstGeom prst="rect">
            <a:avLst/>
          </a:prstGeom>
        </p:spPr>
      </p:pic>
      <p:pic>
        <p:nvPicPr>
          <p:cNvPr id="38" name="picture 38">
            <a:extLst>
              <a:ext uri="{FF2B5EF4-FFF2-40B4-BE49-F238E27FC236}">
                <a16:creationId xmlns:a16="http://schemas.microsoft.com/office/drawing/2014/main" id="{298DE774-3446-35C5-83CD-79938D72E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2231" y="428244"/>
            <a:ext cx="237680" cy="457580"/>
          </a:xfrm>
          <a:prstGeom prst="rect">
            <a:avLst/>
          </a:prstGeom>
        </p:spPr>
      </p:pic>
      <p:sp>
        <p:nvSpPr>
          <p:cNvPr id="40" name="textbox 40">
            <a:extLst>
              <a:ext uri="{FF2B5EF4-FFF2-40B4-BE49-F238E27FC236}">
                <a16:creationId xmlns:a16="http://schemas.microsoft.com/office/drawing/2014/main" id="{51BF19CB-29BD-8DF2-7B49-4174A441376A}"/>
              </a:ext>
            </a:extLst>
          </p:cNvPr>
          <p:cNvSpPr/>
          <p:nvPr/>
        </p:nvSpPr>
        <p:spPr>
          <a:xfrm>
            <a:off x="11873966" y="6506552"/>
            <a:ext cx="137160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50000"/>
              </a:lnSpc>
              <a:tabLst/>
            </a:pPr>
            <a:r>
              <a:rPr sz="1700" b="1" i="1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6387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2"/>
          <p:cNvSpPr/>
          <p:nvPr/>
        </p:nvSpPr>
        <p:spPr>
          <a:xfrm>
            <a:off x="813206" y="1399361"/>
            <a:ext cx="10499446" cy="4650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just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just" eaLnBrk="0">
              <a:lnSpc>
                <a:spcPts val="3098"/>
              </a:lnSpc>
            </a:pPr>
            <a:r>
              <a:rPr sz="2300" b="1" kern="0" spc="80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 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lang="en" altLang="zh-CN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Qwen2.5</a:t>
            </a:r>
            <a:r>
              <a:rPr lang="en-US" altLang="zh-CN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-0</a:t>
            </a:r>
            <a:r>
              <a:rPr lang="en" altLang="zh-CN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.5B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模型的情感分类</a:t>
            </a:r>
            <a:endParaRPr sz="2300" b="1" kern="0" spc="80" dirty="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</a:endParaRPr>
          </a:p>
          <a:p>
            <a:pPr algn="just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just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b="1" dirty="0"/>
              <a:t>1. </a:t>
            </a:r>
            <a:r>
              <a:rPr lang="zh-CN" altLang="en-US" b="1" dirty="0"/>
              <a:t>模型选择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   选择</a:t>
            </a:r>
            <a:r>
              <a:rPr lang="en" altLang="zh-CN" b="1" dirty="0">
                <a:solidFill>
                  <a:srgbClr val="0070C0"/>
                </a:solidFill>
              </a:rPr>
              <a:t>Qwen2.5</a:t>
            </a:r>
            <a:r>
              <a:rPr lang="en-US" altLang="zh-CN" b="1" dirty="0">
                <a:solidFill>
                  <a:srgbClr val="0070C0"/>
                </a:solidFill>
              </a:rPr>
              <a:t>-</a:t>
            </a:r>
            <a:r>
              <a:rPr lang="en-US" altLang="zh-CN" sz="1800" b="1" kern="0" spc="80" dirty="0">
                <a:solidFill>
                  <a:srgbClr val="0070C0"/>
                </a:solidFill>
                <a:latin typeface="Microsoft YaHei"/>
                <a:ea typeface="Microsoft YaHei"/>
              </a:rPr>
              <a:t>0</a:t>
            </a:r>
            <a:r>
              <a:rPr lang="en" altLang="zh-CN" b="1" dirty="0">
                <a:solidFill>
                  <a:srgbClr val="0070C0"/>
                </a:solidFill>
              </a:rPr>
              <a:t>.5B</a:t>
            </a:r>
            <a:r>
              <a:rPr lang="zh-CN" altLang="en-US" dirty="0"/>
              <a:t>作为预训练模型。</a:t>
            </a:r>
            <a:r>
              <a:rPr lang="en" altLang="zh-CN" dirty="0"/>
              <a:t>Qwen</a:t>
            </a:r>
            <a:r>
              <a:rPr lang="zh-CN" altLang="en-US" dirty="0"/>
              <a:t>是一个大规模的预训练语言模型，能够理解和生成自然语言，适用于情感分类任务。</a:t>
            </a:r>
            <a:endParaRPr lang="en-US" altLang="zh-CN" dirty="0"/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 </a:t>
            </a:r>
            <a:r>
              <a:rPr lang="en" altLang="zh-CN" b="1" dirty="0">
                <a:solidFill>
                  <a:srgbClr val="0070C0"/>
                </a:solidFill>
              </a:rPr>
              <a:t>Qwen2.5</a:t>
            </a:r>
            <a:r>
              <a:rPr lang="en-US" altLang="zh-CN" b="1" dirty="0">
                <a:solidFill>
                  <a:srgbClr val="0070C0"/>
                </a:solidFill>
              </a:rPr>
              <a:t>-</a:t>
            </a:r>
            <a:r>
              <a:rPr lang="en-US" altLang="zh-CN" sz="1800" b="1" kern="0" spc="80" dirty="0">
                <a:solidFill>
                  <a:srgbClr val="0070C0"/>
                </a:solidFill>
                <a:latin typeface="Microsoft YaHei"/>
                <a:ea typeface="Microsoft YaHei"/>
              </a:rPr>
              <a:t>0</a:t>
            </a:r>
            <a:r>
              <a:rPr lang="en" altLang="zh-CN" b="1" dirty="0">
                <a:solidFill>
                  <a:srgbClr val="0070C0"/>
                </a:solidFill>
              </a:rPr>
              <a:t>.5B</a:t>
            </a:r>
            <a:r>
              <a:rPr lang="zh-CN" altLang="en-US" dirty="0"/>
              <a:t>是一个较大规模的模型，可以处理复杂的情感分析任务，并且对上下文有较强的理解能力。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数据集准备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  使用你提供的格式的情感分类数据集。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标签为</a:t>
            </a:r>
            <a:r>
              <a:rPr lang="en-US" altLang="zh-CN" b="1" dirty="0"/>
              <a:t>1</a:t>
            </a:r>
            <a:r>
              <a:rPr lang="zh-CN" altLang="en-US" b="1" dirty="0"/>
              <a:t> </a:t>
            </a:r>
            <a:r>
              <a:rPr lang="zh-CN" altLang="en-US" dirty="0"/>
              <a:t>表示负面情感，</a:t>
            </a:r>
            <a:r>
              <a:rPr lang="en-US" altLang="zh-CN" b="1" dirty="0"/>
              <a:t>2</a:t>
            </a:r>
            <a:r>
              <a:rPr lang="zh-CN" altLang="en-US" b="1" dirty="0"/>
              <a:t> </a:t>
            </a:r>
            <a:r>
              <a:rPr lang="zh-CN" altLang="en-US" dirty="0"/>
              <a:t>表示正面情感。</a:t>
            </a:r>
            <a:endParaRPr lang="en-US" altLang="zh-CN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确保数据集的平衡性，如果数据集存在较强的不平衡性，可以考虑应用数据增强或重采样技术。</a:t>
            </a:r>
            <a:endParaRPr lang="en-US" altLang="zh-CN" dirty="0"/>
          </a:p>
        </p:txBody>
      </p:sp>
      <p:sp>
        <p:nvSpPr>
          <p:cNvPr id="44" name="rect 44"/>
          <p:cNvSpPr/>
          <p:nvPr/>
        </p:nvSpPr>
        <p:spPr>
          <a:xfrm>
            <a:off x="0" y="6347459"/>
            <a:ext cx="12192000" cy="510540"/>
          </a:xfrm>
          <a:prstGeom prst="rect">
            <a:avLst/>
          </a:prstGeom>
          <a:solidFill>
            <a:srgbClr val="00447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textbox 46"/>
          <p:cNvSpPr/>
          <p:nvPr/>
        </p:nvSpPr>
        <p:spPr>
          <a:xfrm>
            <a:off x="639762" y="399389"/>
            <a:ext cx="1641475" cy="467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实验要求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312652" y="131064"/>
            <a:ext cx="742188" cy="861059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9762" y="1019175"/>
            <a:ext cx="9401175" cy="1905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2231" y="428244"/>
            <a:ext cx="237680" cy="457580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11875337" y="6506552"/>
            <a:ext cx="136525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700" b="1" i="1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1395C-50AB-99B5-923E-DAE33893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2">
            <a:extLst>
              <a:ext uri="{FF2B5EF4-FFF2-40B4-BE49-F238E27FC236}">
                <a16:creationId xmlns:a16="http://schemas.microsoft.com/office/drawing/2014/main" id="{B96C2859-7AFE-0B5C-6508-A2DF51CAB8B6}"/>
              </a:ext>
            </a:extLst>
          </p:cNvPr>
          <p:cNvSpPr/>
          <p:nvPr/>
        </p:nvSpPr>
        <p:spPr>
          <a:xfrm>
            <a:off x="813206" y="1399361"/>
            <a:ext cx="10499446" cy="4650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just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just" rtl="0" eaLnBrk="0">
              <a:lnSpc>
                <a:spcPts val="3098"/>
              </a:lnSpc>
              <a:tabLst/>
            </a:pPr>
            <a:r>
              <a:rPr sz="2300" b="1" kern="0" spc="80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 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lang="en" altLang="zh-CN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Qwen 2.5</a:t>
            </a:r>
            <a:r>
              <a:rPr lang="en-US" altLang="zh-CN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-0</a:t>
            </a:r>
            <a:r>
              <a:rPr lang="en" altLang="zh-CN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.5B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模型的情感分类</a:t>
            </a:r>
            <a:endParaRPr lang="en-US" altLang="zh-CN" sz="2300" b="1" kern="0" spc="80" dirty="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</a:endParaRPr>
          </a:p>
          <a:p>
            <a:pPr marL="12700" algn="just" rtl="0" eaLnBrk="0">
              <a:lnSpc>
                <a:spcPts val="3098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zh-CN" altLang="en-US" b="1" dirty="0"/>
              <a:t>其余同前 </a:t>
            </a:r>
            <a:r>
              <a:rPr lang="en-US" altLang="zh-CN" b="1" dirty="0"/>
              <a:t>Bert</a:t>
            </a:r>
            <a:r>
              <a:rPr lang="zh-CN" altLang="en-US" b="1" dirty="0"/>
              <a:t> 实验</a:t>
            </a:r>
            <a:endParaRPr lang="en-US" altLang="zh-CN" dirty="0"/>
          </a:p>
        </p:txBody>
      </p:sp>
      <p:sp>
        <p:nvSpPr>
          <p:cNvPr id="44" name="rect 44">
            <a:extLst>
              <a:ext uri="{FF2B5EF4-FFF2-40B4-BE49-F238E27FC236}">
                <a16:creationId xmlns:a16="http://schemas.microsoft.com/office/drawing/2014/main" id="{DB915A90-D9A7-A299-CA40-721550B037D0}"/>
              </a:ext>
            </a:extLst>
          </p:cNvPr>
          <p:cNvSpPr/>
          <p:nvPr/>
        </p:nvSpPr>
        <p:spPr>
          <a:xfrm>
            <a:off x="0" y="6347459"/>
            <a:ext cx="12192000" cy="510540"/>
          </a:xfrm>
          <a:prstGeom prst="rect">
            <a:avLst/>
          </a:prstGeom>
          <a:solidFill>
            <a:srgbClr val="00447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3FF830B-AC1D-7B61-3456-FC8E66647E6D}"/>
              </a:ext>
            </a:extLst>
          </p:cNvPr>
          <p:cNvSpPr/>
          <p:nvPr/>
        </p:nvSpPr>
        <p:spPr>
          <a:xfrm>
            <a:off x="639762" y="402526"/>
            <a:ext cx="1641475" cy="467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实验要求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8" name="picture 48">
            <a:extLst>
              <a:ext uri="{FF2B5EF4-FFF2-40B4-BE49-F238E27FC236}">
                <a16:creationId xmlns:a16="http://schemas.microsoft.com/office/drawing/2014/main" id="{A8C93338-C556-883C-D5C4-317D8CAB4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312652" y="131064"/>
            <a:ext cx="742188" cy="861059"/>
          </a:xfrm>
          <a:prstGeom prst="rect">
            <a:avLst/>
          </a:prstGeom>
        </p:spPr>
      </p:pic>
      <p:pic>
        <p:nvPicPr>
          <p:cNvPr id="50" name="picture 50">
            <a:extLst>
              <a:ext uri="{FF2B5EF4-FFF2-40B4-BE49-F238E27FC236}">
                <a16:creationId xmlns:a16="http://schemas.microsoft.com/office/drawing/2014/main" id="{7FB4855B-19A9-5300-6A68-4E517AFB3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9762" y="1019175"/>
            <a:ext cx="9401175" cy="19050"/>
          </a:xfrm>
          <a:prstGeom prst="rect">
            <a:avLst/>
          </a:prstGeom>
        </p:spPr>
      </p:pic>
      <p:pic>
        <p:nvPicPr>
          <p:cNvPr id="52" name="picture 52">
            <a:extLst>
              <a:ext uri="{FF2B5EF4-FFF2-40B4-BE49-F238E27FC236}">
                <a16:creationId xmlns:a16="http://schemas.microsoft.com/office/drawing/2014/main" id="{229D1CB8-1FFE-2C6C-183E-4597ADE48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2231" y="428244"/>
            <a:ext cx="237680" cy="457580"/>
          </a:xfrm>
          <a:prstGeom prst="rect">
            <a:avLst/>
          </a:prstGeom>
        </p:spPr>
      </p:pic>
      <p:sp>
        <p:nvSpPr>
          <p:cNvPr id="54" name="textbox 54">
            <a:extLst>
              <a:ext uri="{FF2B5EF4-FFF2-40B4-BE49-F238E27FC236}">
                <a16:creationId xmlns:a16="http://schemas.microsoft.com/office/drawing/2014/main" id="{E4D18D8A-6108-B430-A5A3-B13C438E2729}"/>
              </a:ext>
            </a:extLst>
          </p:cNvPr>
          <p:cNvSpPr/>
          <p:nvPr/>
        </p:nvSpPr>
        <p:spPr>
          <a:xfrm>
            <a:off x="11875337" y="6506552"/>
            <a:ext cx="136525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700" b="1" i="1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A9BCAA26-9821-E02F-70CE-70917697FA48}"/>
              </a:ext>
            </a:extLst>
          </p:cNvPr>
          <p:cNvSpPr/>
          <p:nvPr/>
        </p:nvSpPr>
        <p:spPr>
          <a:xfrm>
            <a:off x="813206" y="3079692"/>
            <a:ext cx="9807902" cy="1472211"/>
          </a:xfrm>
          <a:prstGeom prst="roundRect">
            <a:avLst>
              <a:gd name="adj" fmla="val 695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/>
              <a:t>思考： </a:t>
            </a:r>
            <a:r>
              <a:rPr kumimoji="1" lang="en-US" altLang="zh-CN" sz="3200" dirty="0"/>
              <a:t>Bert</a:t>
            </a:r>
            <a:r>
              <a:rPr kumimoji="1" lang="zh-CN" altLang="en-US" sz="3200" dirty="0"/>
              <a:t> 与 </a:t>
            </a:r>
            <a:r>
              <a:rPr kumimoji="1" lang="en-US" altLang="zh-CN" sz="3200" dirty="0"/>
              <a:t>Qwen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2.5 </a:t>
            </a:r>
            <a:r>
              <a:rPr kumimoji="1" lang="zh-CN" altLang="en-US" sz="3200" dirty="0"/>
              <a:t>的差异</a:t>
            </a:r>
          </a:p>
        </p:txBody>
      </p:sp>
    </p:spTree>
    <p:extLst>
      <p:ext uri="{BB962C8B-B14F-4D97-AF65-F5344CB8AC3E}">
        <p14:creationId xmlns:p14="http://schemas.microsoft.com/office/powerpoint/2010/main" val="1121853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850</Words>
  <Application>Microsoft Macintosh PowerPoint</Application>
  <PresentationFormat>宽屏</PresentationFormat>
  <Paragraphs>102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Microsoft YaHei</vt:lpstr>
      <vt:lpstr>Arial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昊 王</cp:lastModifiedBy>
  <cp:revision>33</cp:revision>
  <dcterms:created xsi:type="dcterms:W3CDTF">2022-03-10T15:10:28Z</dcterms:created>
  <dcterms:modified xsi:type="dcterms:W3CDTF">2025-12-03T12:14:57Z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2025-03-18T23:18:36Z</vt:filetime>
  </property>
</Properties>
</file>